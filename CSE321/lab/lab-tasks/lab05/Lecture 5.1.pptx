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156ZUbTkVoTcHLn8cMBKbnPs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4762" y="0"/>
            <a:ext cx="9139239" cy="4572001"/>
          </a:xfrm>
          <a:custGeom>
            <a:rect b="b" l="l" r="r" t="t"/>
            <a:pathLst>
              <a:path extrusionOk="0" h="4572001" w="9139239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" name="Google Shape;19;p12"/>
          <p:cNvSpPr txBox="1"/>
          <p:nvPr>
            <p:ph type="ctrTitle"/>
          </p:nvPr>
        </p:nvSpPr>
        <p:spPr>
          <a:xfrm>
            <a:off x="342900" y="4960137"/>
            <a:ext cx="5829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6457950" y="4960137"/>
            <a:ext cx="2400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12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2"/>
          <p:cNvCxnSpPr/>
          <p:nvPr/>
        </p:nvCxnSpPr>
        <p:spPr>
          <a:xfrm rot="10800000">
            <a:off x="629013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" name="Google Shape;38;p15"/>
          <p:cNvSpPr/>
          <p:nvPr/>
        </p:nvSpPr>
        <p:spPr>
          <a:xfrm>
            <a:off x="4762" y="0"/>
            <a:ext cx="9139239" cy="4572001"/>
          </a:xfrm>
          <a:custGeom>
            <a:rect b="b" l="l" r="r" t="t"/>
            <a:pathLst>
              <a:path extrusionOk="0" h="4572001" w="9139239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342900" y="4960137"/>
            <a:ext cx="5829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  <a:defRPr b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6457950" y="4960137"/>
            <a:ext cx="2400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" name="Google Shape;44;p15"/>
          <p:cNvCxnSpPr/>
          <p:nvPr/>
        </p:nvCxnSpPr>
        <p:spPr>
          <a:xfrm rot="10800000">
            <a:off x="629013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768096" y="2286000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4491990" y="2286000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768096" y="2179636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7"/>
          <p:cNvSpPr txBox="1"/>
          <p:nvPr>
            <p:ph idx="2" type="body"/>
          </p:nvPr>
        </p:nvSpPr>
        <p:spPr>
          <a:xfrm>
            <a:off x="768096" y="2967788"/>
            <a:ext cx="356616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3" type="body"/>
          </p:nvPr>
        </p:nvSpPr>
        <p:spPr>
          <a:xfrm>
            <a:off x="4491990" y="2179636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7"/>
          <p:cNvSpPr txBox="1"/>
          <p:nvPr>
            <p:ph idx="4" type="body"/>
          </p:nvPr>
        </p:nvSpPr>
        <p:spPr>
          <a:xfrm>
            <a:off x="4491990" y="2967788"/>
            <a:ext cx="356616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768096" y="471509"/>
            <a:ext cx="3291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4286250" y="822960"/>
            <a:ext cx="4258818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 "/>
              <a:defRPr sz="20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🢝"/>
              <a:defRPr sz="1600"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5pPr>
            <a:lvl6pPr indent="-3048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🢝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00"/>
              <a:buChar char="🢝"/>
              <a:defRPr sz="1200"/>
            </a:lvl9pPr>
          </a:lstStyle>
          <a:p/>
        </p:txBody>
      </p:sp>
      <p:sp>
        <p:nvSpPr>
          <p:cNvPr id="68" name="Google Shape;68;p19"/>
          <p:cNvSpPr txBox="1"/>
          <p:nvPr>
            <p:ph idx="2" type="body"/>
          </p:nvPr>
        </p:nvSpPr>
        <p:spPr>
          <a:xfrm>
            <a:off x="768096" y="2257506"/>
            <a:ext cx="329184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342900" y="4960138"/>
            <a:ext cx="5829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/>
          <p:nvPr>
            <p:ph idx="2" type="pic"/>
          </p:nvPr>
        </p:nvSpPr>
        <p:spPr>
          <a:xfrm>
            <a:off x="0" y="-1"/>
            <a:ext cx="9141714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0"/>
          <p:cNvSpPr txBox="1"/>
          <p:nvPr>
            <p:ph idx="1" type="body"/>
          </p:nvPr>
        </p:nvSpPr>
        <p:spPr>
          <a:xfrm>
            <a:off x="6457950" y="4960138"/>
            <a:ext cx="2400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76" name="Google Shape;76;p20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9" name="Google Shape;79;p20"/>
          <p:cNvCxnSpPr/>
          <p:nvPr/>
        </p:nvCxnSpPr>
        <p:spPr>
          <a:xfrm rot="10800000">
            <a:off x="629013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 rot="5400000">
            <a:off x="2401444" y="652653"/>
            <a:ext cx="4023360" cy="729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 rot="5400000">
            <a:off x="4824414" y="2481263"/>
            <a:ext cx="54102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 rot="5400000">
            <a:off x="881064" y="623888"/>
            <a:ext cx="5410200" cy="56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22"/>
          <p:cNvCxnSpPr/>
          <p:nvPr/>
        </p:nvCxnSpPr>
        <p:spPr>
          <a:xfrm rot="10800000">
            <a:off x="7543800" y="173563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wentieth Century"/>
              <a:buChar char=" 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🢝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048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048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048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200"/>
              <a:buFont typeface="Noto Sans Symbols"/>
              <a:buChar char="🢝"/>
              <a:defRPr b="0" i="0" sz="1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1"/>
          <p:cNvCxnSpPr/>
          <p:nvPr/>
        </p:nvCxnSpPr>
        <p:spPr>
          <a:xfrm rot="10800000">
            <a:off x="5715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dos.csail.mit.edu/6.S081/2023/xv6/book-riscv-rev3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dos.csail.mit.edu/6.S081/2023/xv6/book-riscv-rev3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dos.csail.mit.edu/6.S081/2023/xv6/book-riscv-rev3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dos.csail.mit.edu/6.S081/2023/xv6/book-riscv-rev3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dos.csail.mit.edu/6.S081/2023/xv6/book-riscv-rev3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dos.csail.mit.edu/6.S081/2023/xv6/book-riscv-rev3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dos.csail.mit.edu/6.S081/2023/xv6/book-riscv-rev3.pdf" TargetMode="External"/><Relationship Id="rId4" Type="http://schemas.openxmlformats.org/officeDocument/2006/relationships/hyperlink" Target="https://github.com/mit-pdos/xv6-riscv" TargetMode="External"/><Relationship Id="rId5" Type="http://schemas.openxmlformats.org/officeDocument/2006/relationships/hyperlink" Target="https://pdos.csail.mit.edu/6.S081/" TargetMode="External"/><Relationship Id="rId6" Type="http://schemas.openxmlformats.org/officeDocument/2006/relationships/hyperlink" Target="https://riscv.org/technical/specifications/" TargetMode="External"/><Relationship Id="rId7" Type="http://schemas.openxmlformats.org/officeDocument/2006/relationships/hyperlink" Target="https://www.qemu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342900" y="4960137"/>
            <a:ext cx="5829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LECTURE 5.1: FILES AND COMPONENTS OF XV6-RISCV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6457950" y="4960137"/>
            <a:ext cx="24003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CSE321: Operating Systems Laboratory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TR"/>
              <a:buChar char="→"/>
            </a:pPr>
            <a:r>
              <a:rPr lang="en-US" sz="2000"/>
              <a:t>  </a:t>
            </a:r>
            <a:r>
              <a:rPr lang="en-US"/>
              <a:t>Understand the overall structure of the xv6‑riscv operating system.</a:t>
            </a:r>
            <a:endParaRPr sz="2000"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TR"/>
              <a:buChar char="→"/>
            </a:pPr>
            <a:r>
              <a:rPr lang="en-US" sz="2000"/>
              <a:t>   </a:t>
            </a:r>
            <a:r>
              <a:rPr lang="en-US"/>
              <a:t>Identify the major directories, files, and components of xv6‑riscv.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TR"/>
              <a:buChar char="→"/>
            </a:pPr>
            <a:r>
              <a:rPr lang="en-US" sz="2000"/>
              <a:t>  </a:t>
            </a:r>
            <a:r>
              <a:rPr lang="en-US"/>
              <a:t>Explain, at a high level, how xv6 boots, creates processes, handles system calls, and manages memory.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TR"/>
              <a:buChar char="→"/>
            </a:pPr>
            <a:r>
              <a:rPr lang="en-US" sz="2000"/>
              <a:t>  </a:t>
            </a:r>
            <a:r>
              <a:rPr lang="en-US"/>
              <a:t>Relate user programs and system calls to the corresponding kernel files and layers (processes, traps, file system, devices).</a:t>
            </a:r>
            <a:endParaRPr/>
          </a:p>
        </p:txBody>
      </p:sp>
      <p:sp>
        <p:nvSpPr>
          <p:cNvPr id="105" name="Google Shape;105;p2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 sz="4400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BIG PICTURE: USER SPACE VS KERNEL SPACE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87079" y="1991692"/>
            <a:ext cx="4688958" cy="2781477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user space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+-------------------+        +-------------------+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 shell process   |        |    cat process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(sh user prog)   |        |  (user program)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+---------^---------+        +---------^---------+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| system calls           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+--------------+-------------+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kernel space          v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+--------------------------------------+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            Kernel              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(processes, memory, files,      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 devices, scheduler, etc.)          |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+--------------------------------------+</a:t>
            </a:r>
            <a:br>
              <a:rPr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sz="1800">
              <a:solidFill>
                <a:srgbClr val="00B05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45824" y="4869711"/>
            <a:ext cx="47714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400" u="sng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Chapter 1 (Overview and kernel/user split)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306921" y="1991692"/>
            <a:ext cx="355000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What is xv6?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xv6 is a small teaching operating system used in university operating systems courses. It reimplements an early version of Unix (Version 6) in modern C and RISC-V assembly. The xv6-riscv code is intentionally small and readable, which makes it suitable for students who are seeing OS internals for the first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Core ideas: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runs in supervisor mode and directly controls the CPU, memory, and devices.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</a:t>
            </a: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user programs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run in user mode with restricted privileges.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 programs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invoke </a:t>
            </a: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calls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to request services from the kernel. </a:t>
            </a:r>
            <a:endParaRPr/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608608" y="478891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TOP-LEVEL LAYOUT OF XV6-RISCV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457200" y="2098865"/>
            <a:ext cx="5452134" cy="297004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xv6-riscv/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Makefile          (build rules)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mkfs              (builds fs.img)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kernel/           (OS kernel, runs in supervisor mode)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entry.S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start.c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main.c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proc.c, exec.c, swtch.S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trap.c, syscall.c, ...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vm.c, kalloc.c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fs.c, file.c, log.c, bio.c, ...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drivers: uart.c, console.c, virtio_disk.c, plic.c, ...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└── user/             (user programs + tiny libc)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init.c, sh.c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ls.c, cat.c, echo.c, ...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user.h, ulib.c, usys.S, printf.c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tests: usertests.c, etc.</a:t>
            </a:r>
            <a:endParaRPr b="1" sz="1800">
              <a:solidFill>
                <a:srgbClr val="00B05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253457" y="5189267"/>
            <a:ext cx="3859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 </a:t>
            </a:r>
            <a:r>
              <a:rPr lang="en-US" sz="1400" u="sng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Sections 2.1–2.4 (Code organisation and file layout)</a:t>
            </a:r>
            <a:endParaRPr>
              <a:solidFill>
                <a:srgbClr val="00B05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039293" y="2098865"/>
            <a:ext cx="2966484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Important elements in the top-level directory: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Contains the operating system kernel source files (C and assembly).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user/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Contains user programs (such as sh, ls, cat) and a tiny user‑space library.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mkfs: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tool that builds the initial xv6 file system image (fs.img) from a set of files.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Makefile: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</a:t>
            </a: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describes how to build xv6 and its user programs, as well as how to run xv6 under QEMU.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Other files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include Helper scripts, configuration files, and documentation (e.g., README).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640505" y="787235"/>
            <a:ext cx="7290054" cy="8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Font typeface="Twentieth Century"/>
              <a:buNone/>
            </a:pPr>
            <a:r>
              <a:rPr lang="en-US"/>
              <a:t>BOOT PATH/SEQUENCE: FROM HARDWARE TO SHELL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595424" y="1774293"/>
            <a:ext cx="5039833" cy="489364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Hardware / QEMU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  (boot ROM + boot loader, outside xv6)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[1] entry.S        (kernel/entry.S)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sets up stack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jumps to start()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[2] start.c        (kernel/start.c)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runs in machine mode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configures timer, interrupts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switches to supervisor mode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calls main()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[3] main.c         (kernel/main.c)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initialises memory, process table, file system, devices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calls userinit()  -&gt; start user program 'init'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enters scheduler loop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[4] init (user/init.c)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creates console, starts shell 'sh'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|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v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[5] sh (user/sh.c)</a:t>
            </a:r>
            <a:br>
              <a:rPr b="1" lang="en-US" sz="105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1" lang="en-US" sz="105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- reads commands, runs other programs</a:t>
            </a:r>
            <a:br>
              <a:rPr b="1" lang="en-US" sz="1800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b="1" sz="1800">
              <a:solidFill>
                <a:srgbClr val="00B05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5635257" y="6052397"/>
            <a:ext cx="29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</a:t>
            </a:r>
            <a:r>
              <a:rPr lang="en-US" sz="11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100" u="sng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Section 2.6 (Starting xv6 and the first process)</a:t>
            </a:r>
            <a:endParaRPr>
              <a:solidFill>
                <a:srgbClr val="00B05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749159" y="1774293"/>
            <a:ext cx="322472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Key function: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small chain of files enables xv6 to transition from raw hardware to a running shell.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kernel/entry.S: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First kernel instructions, written in RISC-V assembly; sets up a stack and jumps to start().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kernel/start.c: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Runs in machine mode, configures timer and interrupt delegation, switches to supervisor mode, then calls main().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kernel/main.c: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Initializes memory, processes, file system, devices, starts first user process (init), and enters the scheduler.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user/init.c: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First user program, sets up console and starts sh.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user/sh.c: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Shell that reads commands, uses fork and exec to run programs. 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PROCESSES AND SYSTEM CALLS 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677917" y="2357823"/>
            <a:ext cx="5743904" cy="28007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User program (e.g., sh or ls)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write(fd, buf, n)          // user C call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usys.S                      // ECALL with syscall number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trampoline.S, trap.c        // trap into kernel, identify syscall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syscall.c -&gt; sys_write()    // perform write via file system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return to user              // write() returns value </a:t>
            </a:r>
            <a:endParaRPr b="1" sz="1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066799" y="5213769"/>
            <a:ext cx="374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400" u="sng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Chapters 2–3 (Processes and address spaces)</a:t>
            </a:r>
            <a:endParaRPr>
              <a:solidFill>
                <a:srgbClr val="00B05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1962806" y="1986122"/>
            <a:ext cx="3174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System call path (example: write)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6537433" y="2357822"/>
            <a:ext cx="2522483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Key files: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kernel/proc.c: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Process table, process states, scheduler, logic for fork, exit, wait.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kernel/exec.c: 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Implements exec(); loads a new program (ELF file) into a process.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kernel/swtch.S: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Assembly routine for context switching between processes.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kernel/sysproc.c: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 implementations of process-related system calls. </a:t>
            </a:r>
            <a:endParaRPr/>
          </a:p>
        </p:txBody>
      </p:sp>
      <p:sp>
        <p:nvSpPr>
          <p:cNvPr id="142" name="Google Shape;142;p6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MEMORY AND FILE SYSTEM (HIGH-LEVEL VIEW) 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677917" y="2357823"/>
            <a:ext cx="4459014" cy="22929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read(fd, buf, n)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sys_read() (sysfile.c)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fileread() (file.c)      -&gt; inode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readi() (fs.c)           -&gt; disk block numbers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bread() (bio.c)          -&gt; virtio_disk.c -&gt; disk </a:t>
            </a:r>
            <a:endParaRPr b="1" sz="1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066798" y="4845907"/>
            <a:ext cx="37469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400" u="sng">
                <a:solidFill>
                  <a:srgbClr val="00B050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Chapters 8–10 (File system structure and logging)</a:t>
            </a:r>
            <a:endParaRPr sz="1400">
              <a:solidFill>
                <a:srgbClr val="00B05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353205" y="1936723"/>
            <a:ext cx="3174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Simple file system stack for read()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5391807" y="2357822"/>
            <a:ext cx="366810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Memory: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kernel/kalloc.c: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Physical page allocator (kalloc, kfree).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kernel/vm.c: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Virtual memory and page tables (maps code, data, stack, trampoline).</a:t>
            </a:r>
            <a:endParaRPr/>
          </a:p>
          <a:p>
            <a:pPr indent="-1968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None/>
            </a:pPr>
            <a:r>
              <a:t/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File System: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kernel/fs.c, kernel/bio.c, kernel/log.c: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Disk layout, buffer cache, simple log.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kernel/file.c, kernel/sysfile.c, kernel/pipe.c: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File descriptors, file system system calls, pipes.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768096" y="585216"/>
            <a:ext cx="7290054" cy="1400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USER‑SPACE FILES AND PROGRAMS (USER/ DIRECTORY)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677917" y="2357823"/>
            <a:ext cx="4240924" cy="178510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user program (e.g., ls.c)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user.h + ulib.c  (write(), read(), open(), ...)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usys.S stubs     (assembly ECALL wrapper)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|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    v</a:t>
            </a:r>
            <a:b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1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kernel (syscall.c + sys*.c)</a:t>
            </a:r>
            <a:endParaRPr b="1" sz="1100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1066798" y="4253018"/>
            <a:ext cx="4070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Diagram Reference: </a:t>
            </a:r>
            <a:r>
              <a:rPr lang="en-US" sz="14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 RISC-V book, Chapters 1–2 and 4 (User programs and system call interface)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514802" y="1986122"/>
            <a:ext cx="31741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 Program Calling a System Call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136930" y="1986122"/>
            <a:ext cx="3922986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Supporting Code: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user.h: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Contains function prototypes and type definitions for user programs, including system call declarations.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ulib.c: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Implements basic C library</a:t>
            </a:r>
            <a:r>
              <a:rPr lang="en-US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functions for user programs.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printf.c: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User-space printf implementation.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usys.S: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Assembly stubs that place the system call number in a register, execute ecall, and return the result.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Important programs: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init.c: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The first user program started by the kernel. It sets up the console and then starts the shell (sh).</a:t>
            </a:r>
            <a:endParaRPr b="1"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sh.c: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The shell program. It reads commands from the user, uses fork() and exec() to run other programs, and waits for them to finish.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TR"/>
              <a:buChar char="→"/>
            </a:pP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Various utilities 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(ls, cat, echo, mkdir, rm, kill, sleep, etc.) and </a:t>
            </a:r>
            <a:r>
              <a:rPr b="1"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test programs</a:t>
            </a:r>
            <a:r>
              <a:rPr lang="en-US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(usertests).</a:t>
            </a:r>
            <a:endParaRPr/>
          </a:p>
        </p:txBody>
      </p:sp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/>
              <a:t>QUICK FILE MAPPING: WHERE TO LOOK IN XV6-RISCV</a:t>
            </a:r>
            <a:endParaRPr/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768095" y="2286000"/>
            <a:ext cx="7829367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Overall structure and files: </a:t>
            </a:r>
            <a:r>
              <a:rPr lang="en-US" sz="1600"/>
              <a:t>top-level tree and kernel/ vs user/</a:t>
            </a:r>
            <a:endParaRPr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Boot: </a:t>
            </a:r>
            <a:r>
              <a:rPr lang="en-US" sz="1600"/>
              <a:t>kernel/entry.S, kernel/start.c, kernel/main.c</a:t>
            </a:r>
            <a:endParaRPr b="1" sz="1600"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Processes and scheduler: </a:t>
            </a:r>
            <a:r>
              <a:rPr lang="en-US" sz="1600"/>
              <a:t>kernel/proc.c, kernel/exec.c, kernel/swtch.S</a:t>
            </a:r>
            <a:endParaRPr b="1" sz="1600"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Traps and system calls: </a:t>
            </a:r>
            <a:r>
              <a:rPr lang="en-US"/>
              <a:t> </a:t>
            </a:r>
            <a:r>
              <a:rPr lang="en-US" sz="1600"/>
              <a:t>kernel/trampoline.S, kernel/trap.c, kernel/syscall.c, kernel/sysproc.c, kernel/sysfile.c </a:t>
            </a:r>
            <a:endParaRPr b="1" sz="1600"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Memory and address spaces: </a:t>
            </a:r>
            <a:r>
              <a:rPr lang="en-US" sz="1600"/>
              <a:t>kernel/vm.c, kernel/kalloc.c</a:t>
            </a:r>
            <a:endParaRPr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File system and storage: </a:t>
            </a:r>
            <a:r>
              <a:rPr lang="en-US" sz="1600"/>
              <a:t>kernel/fs.c, kernel/bio.c, kernel/log.c, kernel/file.c, kernel/pipe.c </a:t>
            </a:r>
            <a:endParaRPr b="1" sz="1600"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b="1" lang="en-US" sz="1600"/>
              <a:t>  Devices and interrupts: </a:t>
            </a:r>
            <a:r>
              <a:rPr lang="en-US" sz="1600"/>
              <a:t>kernel/uart.c, kernel/console.c, kernel/plic.c, kernel/virtio_disk.c </a:t>
            </a:r>
            <a:endParaRPr b="1" sz="1600"/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</a:t>
            </a:r>
            <a:r>
              <a:rPr b="1" lang="en-US" sz="1600"/>
              <a:t>User level: </a:t>
            </a:r>
            <a:r>
              <a:rPr lang="en-US" sz="1600"/>
              <a:t>user/init.c, user/sh.c, user/*.c utilities, user/user.h, user/ulib.c, user/usys.S</a:t>
            </a:r>
            <a:endParaRPr sz="16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None/>
            </a:pPr>
            <a:r>
              <a:t/>
            </a:r>
            <a:endParaRPr sz="1600"/>
          </a:p>
        </p:txBody>
      </p:sp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Twentieth Century"/>
              <a:buNone/>
            </a:pPr>
            <a:r>
              <a:rPr lang="en-US" sz="4400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REFERENCES AND FURTHER READING</a:t>
            </a:r>
            <a:endParaRPr/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Overview of xv6-riscv design, file layout, and code examples: </a:t>
            </a:r>
            <a:r>
              <a:rPr lang="en-US" sz="1600" u="sng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xv6: a simple, Unix-like teaching operating system (RISC-V edition)</a:t>
            </a:r>
            <a:endParaRPr>
              <a:solidFill>
                <a:srgbClr val="00B050"/>
              </a:solidFill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Official xv6-riscv source code repository (all files mentioned here): </a:t>
            </a:r>
            <a:r>
              <a:rPr lang="en-US" sz="1600" u="sng">
                <a:solidFill>
                  <a:srgbClr val="00B05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mit-pdos/xv6-riscv on GitHub</a:t>
            </a:r>
            <a:endParaRPr>
              <a:solidFill>
                <a:srgbClr val="00B050"/>
              </a:solidFill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Course materials, labs, and assignments using xv6-riscv: </a:t>
            </a:r>
            <a:r>
              <a:rPr lang="en-US" sz="1600" u="sng">
                <a:solidFill>
                  <a:srgbClr val="00B05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MIT 6.S081 / 6.1810 Operating Systems Engineering</a:t>
            </a:r>
            <a:endParaRPr>
              <a:solidFill>
                <a:srgbClr val="00B050"/>
              </a:solidFill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Background on RISC-V privilege levels, page tables, and traps: </a:t>
            </a:r>
            <a:r>
              <a:rPr lang="en-US" sz="1600" u="sng">
                <a:solidFill>
                  <a:srgbClr val="00B050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RISC-V Instruction Set Architecture Specifications</a:t>
            </a:r>
            <a:endParaRPr>
              <a:solidFill>
                <a:srgbClr val="00B050"/>
              </a:solidFill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00"/>
              <a:buFont typeface="NTR"/>
              <a:buChar char="→"/>
            </a:pPr>
            <a:r>
              <a:rPr lang="en-US" sz="1600"/>
              <a:t>  Emulator used to run xv6-riscv: </a:t>
            </a:r>
            <a:r>
              <a:rPr lang="en-US" sz="1600" u="sng">
                <a:solidFill>
                  <a:srgbClr val="00B050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QEMU official website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76" name="Google Shape;176;p10"/>
          <p:cNvSpPr txBox="1"/>
          <p:nvPr>
            <p:ph idx="12" type="sldNum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